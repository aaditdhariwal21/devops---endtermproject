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21de92-6fa5-84f5-61e6-158478704888}">
          <p14:sldIdLst>
            <p14:sldId id="256"/>
          </p14:sldIdLst>
        </p14:section>
        <p14:section name="Application" id="{fe63d076-234b-f043-916e-fc1a5986799c}">
          <p14:sldIdLst>
            <p14:sldId id="257"/>
          </p14:sldIdLst>
        </p14:section>
        <p14:section name="Architecture" id="{0c1f03df-075e-f715-953c-96e7a51470c4}">
          <p14:sldIdLst>
            <p14:sldId id="258"/>
          </p14:sldIdLst>
        </p14:section>
        <p14:section name="Results" id="{8ef0d80a-ee00-38ae-affe-acbc86b3e869}">
          <p14:sldIdLst>
            <p14:sldId id="259"/>
          </p14:sldIdLst>
        </p14:section>
        <p14:section name="Wrap-up" id="{c66a6040-69c2-2171-1bb8-3c05a6b94cdb}">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DeskFlow is a helpdesk ticketing system: customers raise tickets, support agents triage them by priority and category, assign owners and move them to resolved. The app is intentionally small. The project is the delivery pipeline around it: tests, containers, CI/CD, security scanning, a registry, infrastructure as code, Kubernetes with Helm, ingress, autoscaling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 Vite frontend served by unprivileged Nginx, FastAPI backend with SQLAlchemy and Alembic migrations, PostgreSQL database. Eleven REST endpoints including CRUD, stats, an activity log, health, readiness and Prometheus metrics. 31 pytest tests run against an isolated SQLite database. The pipeline card in the UI shows the commit SHA that's live, so you can trace production back to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delivery path: a push to main runs GitHub Actions: lint and pytest, frontend build, Docker builds for both images, a Trivy gate that fails on fixable HIGH or CRITICAL CVEs, then the images go to GHCR tagged with the commit SHA. Helm deploys that exact SHA to EKS. Terraform builds the AWS side: a VPC with public and private subnets and a NAT gateway, plus the EKS cluster and node group. Inside, Traefik routes / to the frontend and /api to the backend. The backend autoscales on CPU, PostgreSQL keeps its data on an EBS volume, and Prometheus scrapes /metrics for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an in-cluster load test the HPA scaled the backend from 2 to 6 pods and back down once load stopped. Prometheus scraped all 5 backend pods. A full CI run takes about two minutes. Terraform created 59 AWS resources and terraform destroy removed every one of them afterwards, so nothing is left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real problems came up and were fixed along the way. Trivy caught HIGH CVEs that came from libraries bundled inside pip, so the runtime image no longer ships pip and uses Alpine. The AWS Free plan only allows certain instance types, so the node group moved to m7i-flex.large. The AWS organization blocks OIDC providers, so CI uses repository secrets. And a scripted teardown makes sure nothing keeps billing. The takeaway is the pipeline: tested, scanned, traceable, declarative, observable.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804672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148840"/>
            <a:ext cx="804672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8046720" cy="914400"/>
          </a:xfrm>
          <a:prstGeom prst="rect">
            <a:avLst/>
          </a:prstGeom>
          <a:noFill/>
          <a:ln/>
        </p:spPr>
        <p:txBody>
          <a:bodyPr wrap="square" lIns="0" tIns="0" rIns="0" bIns="0" rtlCol="0" anchor="b"/>
          <a:lstStyle/>
          <a:p>
            <a:pPr algn="l" indent="0" marL="0">
              <a:buNone/>
            </a:pPr>
            <a:r>
              <a:rPr lang="en-US" sz="4800" b="1" dirty="0">
                <a:solidFill>
                  <a:schemeClr val="bg1"/>
                </a:solidFill>
              </a:rPr>
              <a:t>DeskFlow</a:t>
            </a:r>
            <a:endParaRPr lang="en-US" sz="4800" dirty="0"/>
          </a:p>
        </p:txBody>
      </p:sp>
      <p:sp>
        <p:nvSpPr>
          <p:cNvPr id="3" name="Text 0"/>
          <p:cNvSpPr/>
          <p:nvPr>
            <p:ph idx="101" type="body" hasCustomPrompt="1"/>
          </p:nvPr>
        </p:nvSpPr>
        <p:spPr>
          <a:xfrm>
            <a:off x="548640" y="2148840"/>
            <a:ext cx="8046720" cy="822960"/>
          </a:xfrm>
          <a:prstGeom prst="rect">
            <a:avLst/>
          </a:prstGeom>
          <a:noFill/>
          <a:ln/>
        </p:spPr>
        <p:txBody>
          <a:bodyPr wrap="square" lIns="0" tIns="0" rIns="0" bIns="0" rtlCol="0" anchor="t"/>
          <a:lstStyle/>
          <a:p>
            <a:pPr indent="0" marL="0">
              <a:buNone/>
            </a:pPr>
            <a:r>
              <a:rPr lang="en-US" sz="2000" dirty="0">
                <a:solidFill>
                  <a:schemeClr val="accent5"/>
                </a:solidFill>
              </a:rPr>
              <a:t>A helpdesk ticketing app, shipped from laptop to a monitored Kubernetes cluster on AWS</a:t>
            </a:r>
            <a:endParaRPr lang="en-US" sz="2000" dirty="0"/>
          </a:p>
        </p:txBody>
      </p:sp>
      <p:sp>
        <p:nvSpPr>
          <p:cNvPr id="4" name="logo"/>
          <p:cNvSpPr/>
          <p:nvPr/>
        </p:nvSpPr>
        <p:spPr>
          <a:xfrm>
            <a:off x="548640" y="502920"/>
            <a:ext cx="502920" cy="502920"/>
          </a:xfrm>
          <a:prstGeom prst="roundRect">
            <a:avLst>
              <a:gd name="adj" fmla="val 21818"/>
            </a:avLst>
          </a:prstGeom>
          <a:solidFill>
            <a:schemeClr val="accent1"/>
          </a:solidFill>
          <a:ln w="12700">
            <a:solidFill>
              <a:schemeClr val="accent1"/>
            </a:solidFill>
            <a:prstDash val="solid"/>
          </a:ln>
        </p:spPr>
      </p:sp>
      <p:sp>
        <p:nvSpPr>
          <p:cNvPr id="5" name="logo-text"/>
          <p:cNvSpPr txBox="1"/>
          <p:nvPr/>
        </p:nvSpPr>
        <p:spPr>
          <a:xfrm>
            <a:off x="548640" y="502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DF</a:t>
            </a:r>
            <a:endParaRPr lang="en-US" sz="1600" dirty="0"/>
          </a:p>
        </p:txBody>
      </p:sp>
      <p:sp>
        <p:nvSpPr>
          <p:cNvPr id="6" name="byline"/>
          <p:cNvSpPr txBox="1"/>
          <p:nvPr/>
        </p:nvSpPr>
        <p:spPr>
          <a:xfrm>
            <a:off x="1188720" y="502920"/>
            <a:ext cx="5486400" cy="502920"/>
          </a:xfrm>
          <a:prstGeom prst="rect">
            <a:avLst/>
          </a:prstGeom>
          <a:noFill/>
          <a:ln/>
        </p:spPr>
        <p:txBody>
          <a:bodyPr wrap="square" lIns="0" tIns="0" rIns="0" bIns="0" rtlCol="0" anchor="ctr"/>
          <a:lstStyle/>
          <a:p>
            <a:pPr indent="0" marL="0">
              <a:buNone/>
            </a:pPr>
            <a:r>
              <a:rPr lang="en-US" sz="1400" dirty="0">
                <a:solidFill>
                  <a:schemeClr val="accent5"/>
                </a:solidFill>
              </a:rPr>
              <a:t>DevOps End-Term Capstone  ·  Aadit Dhariwal</a:t>
            </a:r>
            <a:endParaRPr lang="en-US" sz="1400" dirty="0"/>
          </a:p>
        </p:txBody>
      </p:sp>
      <p:sp>
        <p:nvSpPr>
          <p:cNvPr id="7" name="chip-0"/>
          <p:cNvSpPr txBox="1"/>
          <p:nvPr/>
        </p:nvSpPr>
        <p:spPr>
          <a:xfrm>
            <a:off x="548640" y="3429000"/>
            <a:ext cx="589788"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React</a:t>
            </a:r>
            <a:endParaRPr lang="en-US" sz="1200" dirty="0"/>
          </a:p>
        </p:txBody>
      </p:sp>
      <p:sp>
        <p:nvSpPr>
          <p:cNvPr id="8" name="chip-1"/>
          <p:cNvSpPr txBox="1"/>
          <p:nvPr/>
        </p:nvSpPr>
        <p:spPr>
          <a:xfrm>
            <a:off x="1248156" y="3429000"/>
            <a:ext cx="745236"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FastAPI</a:t>
            </a:r>
            <a:endParaRPr lang="en-US" sz="1200" dirty="0"/>
          </a:p>
        </p:txBody>
      </p:sp>
      <p:sp>
        <p:nvSpPr>
          <p:cNvPr id="9" name="chip-2"/>
          <p:cNvSpPr txBox="1"/>
          <p:nvPr/>
        </p:nvSpPr>
        <p:spPr>
          <a:xfrm>
            <a:off x="2103120" y="3429000"/>
            <a:ext cx="978408"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PostgreSQL</a:t>
            </a:r>
            <a:endParaRPr lang="en-US" sz="1200" dirty="0"/>
          </a:p>
        </p:txBody>
      </p:sp>
      <p:sp>
        <p:nvSpPr>
          <p:cNvPr id="10" name="chip-3"/>
          <p:cNvSpPr txBox="1"/>
          <p:nvPr/>
        </p:nvSpPr>
        <p:spPr>
          <a:xfrm>
            <a:off x="3191256" y="3429000"/>
            <a:ext cx="667512"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Docker</a:t>
            </a:r>
            <a:endParaRPr lang="en-US" sz="1200" dirty="0"/>
          </a:p>
        </p:txBody>
      </p:sp>
      <p:sp>
        <p:nvSpPr>
          <p:cNvPr id="11" name="chip-4"/>
          <p:cNvSpPr txBox="1"/>
          <p:nvPr/>
        </p:nvSpPr>
        <p:spPr>
          <a:xfrm>
            <a:off x="3968496" y="3429000"/>
            <a:ext cx="1289304"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GitHub Actions</a:t>
            </a:r>
            <a:endParaRPr lang="en-US" sz="1200" dirty="0"/>
          </a:p>
        </p:txBody>
      </p:sp>
      <p:sp>
        <p:nvSpPr>
          <p:cNvPr id="12" name="chip-5"/>
          <p:cNvSpPr txBox="1"/>
          <p:nvPr/>
        </p:nvSpPr>
        <p:spPr>
          <a:xfrm>
            <a:off x="5367528" y="3429000"/>
            <a:ext cx="589788"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Trivy</a:t>
            </a:r>
            <a:endParaRPr lang="en-US" sz="1200" dirty="0"/>
          </a:p>
        </p:txBody>
      </p:sp>
      <p:sp>
        <p:nvSpPr>
          <p:cNvPr id="13" name="chip-6"/>
          <p:cNvSpPr txBox="1"/>
          <p:nvPr/>
        </p:nvSpPr>
        <p:spPr>
          <a:xfrm>
            <a:off x="6067044" y="3429000"/>
            <a:ext cx="512064"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GHCR</a:t>
            </a:r>
            <a:endParaRPr lang="en-US" sz="1200" dirty="0"/>
          </a:p>
        </p:txBody>
      </p:sp>
      <p:sp>
        <p:nvSpPr>
          <p:cNvPr id="14" name="chip-7"/>
          <p:cNvSpPr txBox="1"/>
          <p:nvPr/>
        </p:nvSpPr>
        <p:spPr>
          <a:xfrm>
            <a:off x="6688836" y="3429000"/>
            <a:ext cx="900684"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Terraform</a:t>
            </a:r>
            <a:endParaRPr lang="en-US" sz="1200" dirty="0"/>
          </a:p>
        </p:txBody>
      </p:sp>
      <p:sp>
        <p:nvSpPr>
          <p:cNvPr id="15" name="chip-8"/>
          <p:cNvSpPr txBox="1"/>
          <p:nvPr/>
        </p:nvSpPr>
        <p:spPr>
          <a:xfrm>
            <a:off x="7699248" y="3429000"/>
            <a:ext cx="745236"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AWS EKS</a:t>
            </a:r>
            <a:endParaRPr lang="en-US" sz="1200" dirty="0"/>
          </a:p>
        </p:txBody>
      </p:sp>
      <p:sp>
        <p:nvSpPr>
          <p:cNvPr id="16" name="chip-9"/>
          <p:cNvSpPr txBox="1"/>
          <p:nvPr/>
        </p:nvSpPr>
        <p:spPr>
          <a:xfrm>
            <a:off x="548640" y="3886200"/>
            <a:ext cx="512064"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Helm</a:t>
            </a:r>
            <a:endParaRPr lang="en-US" sz="1200" dirty="0"/>
          </a:p>
        </p:txBody>
      </p:sp>
      <p:sp>
        <p:nvSpPr>
          <p:cNvPr id="17" name="chip-10"/>
          <p:cNvSpPr txBox="1"/>
          <p:nvPr/>
        </p:nvSpPr>
        <p:spPr>
          <a:xfrm>
            <a:off x="1170432" y="3886200"/>
            <a:ext cx="745236"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Traefik</a:t>
            </a:r>
            <a:endParaRPr lang="en-US" sz="1200" dirty="0"/>
          </a:p>
        </p:txBody>
      </p:sp>
      <p:sp>
        <p:nvSpPr>
          <p:cNvPr id="18" name="chip-11"/>
          <p:cNvSpPr txBox="1"/>
          <p:nvPr/>
        </p:nvSpPr>
        <p:spPr>
          <a:xfrm>
            <a:off x="2025396" y="3886200"/>
            <a:ext cx="978408"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Prometheus</a:t>
            </a:r>
            <a:endParaRPr lang="en-US" sz="1200" dirty="0"/>
          </a:p>
        </p:txBody>
      </p:sp>
      <p:sp>
        <p:nvSpPr>
          <p:cNvPr id="19" name="chip-12"/>
          <p:cNvSpPr txBox="1"/>
          <p:nvPr/>
        </p:nvSpPr>
        <p:spPr>
          <a:xfrm>
            <a:off x="3113532" y="3886200"/>
            <a:ext cx="745236" cy="329184"/>
          </a:xfrm>
          <a:prstGeom prst="roundRect">
            <a:avLst>
              <a:gd name="adj" fmla="val 41667"/>
            </a:avLst>
          </a:prstGeom>
          <a:solidFill>
            <a:schemeClr val="tx1"/>
          </a:solidFill>
          <a:ln w="12700">
            <a:solidFill>
              <a:schemeClr val="accent1"/>
            </a:solidFill>
          </a:ln>
        </p:spPr>
        <p:txBody>
          <a:bodyPr wrap="square" lIns="0" tIns="0" rIns="0" bIns="0" rtlCol="0" anchor="ctr"/>
          <a:lstStyle/>
          <a:p>
            <a:pPr algn="ctr" indent="0" marL="0">
              <a:buNone/>
            </a:pPr>
            <a:r>
              <a:rPr lang="en-US" sz="1200" dirty="0">
                <a:solidFill>
                  <a:schemeClr val="bg1"/>
                </a:solidFill>
              </a:rPr>
              <a:t>Grafana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000" b="1" dirty="0">
                <a:solidFill>
                  <a:schemeClr val="tx1"/>
                </a:solidFill>
              </a:rPr>
              <a:t>What I built</a:t>
            </a:r>
            <a:endParaRPr lang="en-US" sz="3000" dirty="0"/>
          </a:p>
        </p:txBody>
      </p:sp>
      <p:pic>
        <p:nvPicPr>
          <p:cNvPr id="3" name="app-screenshot" descr="C:\Users\aadit\Desktop\DevOps\DevOps End Term Project\docs\screenshots\app-ingress.png">    </p:cNvPr>
          <p:cNvPicPr>
            <a:picLocks noChangeAspect="1"/>
          </p:cNvPicPr>
          <p:nvPr/>
        </p:nvPicPr>
        <p:blipFill>
          <a:blip r:embed="rId1"/>
          <a:stretch>
            <a:fillRect/>
          </a:stretch>
        </p:blipFill>
        <p:spPr>
          <a:xfrm>
            <a:off x="457200" y="1051560"/>
            <a:ext cx="4937760" cy="3086100"/>
          </a:xfrm>
          <a:prstGeom prst="rect">
            <a:avLst/>
          </a:prstGeom>
          <a:effectLst>
            <a:outerShdw sx="100000" sy="100000" kx="0" ky="0" algn="bl" rotWithShape="0" blurRad="101600" dist="25400" dir="5400000">
              <a:srgbClr val="171A2B">
                <a:alpha val="18000"/>
              </a:srgbClr>
            </a:outerShdw>
          </a:effectLst>
        </p:spPr>
      </p:pic>
      <p:sp>
        <p:nvSpPr>
          <p:cNvPr id="4" name="app-caption"/>
          <p:cNvSpPr txBox="1"/>
          <p:nvPr/>
        </p:nvSpPr>
        <p:spPr>
          <a:xfrm>
            <a:off x="457200" y="4224528"/>
            <a:ext cx="4937760" cy="274320"/>
          </a:xfrm>
          <a:prstGeom prst="rect">
            <a:avLst/>
          </a:prstGeom>
          <a:noFill/>
          <a:ln/>
        </p:spPr>
        <p:txBody>
          <a:bodyPr wrap="square" lIns="0" tIns="0" rIns="0" bIns="0" rtlCol="0" anchor="ctr"/>
          <a:lstStyle/>
          <a:p>
            <a:pPr indent="0" marL="0">
              <a:buNone/>
            </a:pPr>
            <a:r>
              <a:rPr lang="en-US" sz="1000" i="1" dirty="0">
                <a:solidFill>
                  <a:schemeClr val="tx1"/>
                </a:solidFill>
              </a:rPr>
              <a:t>Live on AWS EKS through the Ingress, deployed by CI at commit 2171c81</a:t>
            </a:r>
            <a:endParaRPr lang="en-US" sz="1000" dirty="0"/>
          </a:p>
        </p:txBody>
      </p:sp>
      <p:sp>
        <p:nvSpPr>
          <p:cNvPr id="5" name="features"/>
          <p:cNvSpPr txBox="1"/>
          <p:nvPr/>
        </p:nvSpPr>
        <p:spPr>
          <a:xfrm>
            <a:off x="5669280" y="1051560"/>
            <a:ext cx="301752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Tickets with priority, status, category and assignee</a:t>
            </a:r>
            <a:endParaRPr lang="en-US" sz="1400" dirty="0"/>
          </a:p>
          <a:p>
            <a:pPr marL="177800" indent="-177800">
              <a:spcAft>
                <a:spcPts val="600"/>
              </a:spcAft>
              <a:buSzPct val="100000"/>
              <a:buChar char="•"/>
            </a:pPr>
            <a:r>
              <a:rPr lang="en-US" sz="1400" dirty="0">
                <a:solidFill>
                  <a:schemeClr val="tx1"/>
                </a:solidFill>
              </a:rPr>
              <a:t>KPI dashboard, filters and a live activity feed</a:t>
            </a:r>
            <a:endParaRPr lang="en-US" sz="1400" dirty="0"/>
          </a:p>
          <a:p>
            <a:pPr marL="177800" indent="-177800">
              <a:spcAft>
                <a:spcPts val="600"/>
              </a:spcAft>
              <a:buSzPct val="100000"/>
              <a:buChar char="•"/>
            </a:pPr>
            <a:r>
              <a:rPr lang="en-US" sz="1400" dirty="0">
                <a:solidFill>
                  <a:schemeClr val="tx1"/>
                </a:solidFill>
              </a:rPr>
              <a:t>UI shows which commit is deployed</a:t>
            </a:r>
            <a:endParaRPr lang="en-US" sz="1400" dirty="0"/>
          </a:p>
        </p:txBody>
      </p:sp>
      <p:sp>
        <p:nvSpPr>
          <p:cNvPr id="6" name="stat-api-card"/>
          <p:cNvSpPr/>
          <p:nvPr/>
        </p:nvSpPr>
        <p:spPr>
          <a:xfrm>
            <a:off x="5669280" y="2423160"/>
            <a:ext cx="1440180" cy="960120"/>
          </a:xfrm>
          <a:prstGeom prst="roundRect">
            <a:avLst>
              <a:gd name="adj" fmla="val 7619"/>
            </a:avLst>
          </a:prstGeom>
          <a:solidFill>
            <a:schemeClr val="bg2"/>
          </a:solidFill>
          <a:ln w="12700">
            <a:solidFill>
              <a:schemeClr val="bg2"/>
            </a:solidFill>
            <a:prstDash val="solid"/>
          </a:ln>
        </p:spPr>
      </p:sp>
      <p:sp>
        <p:nvSpPr>
          <p:cNvPr id="7" name="stat-api-value"/>
          <p:cNvSpPr txBox="1"/>
          <p:nvPr/>
        </p:nvSpPr>
        <p:spPr>
          <a:xfrm>
            <a:off x="5806440" y="2496312"/>
            <a:ext cx="1165860" cy="528066"/>
          </a:xfrm>
          <a:prstGeom prst="rect">
            <a:avLst/>
          </a:prstGeom>
          <a:noFill/>
          <a:ln/>
        </p:spPr>
        <p:txBody>
          <a:bodyPr wrap="square" lIns="0" tIns="0" rIns="0" bIns="0" rtlCol="0" anchor="b"/>
          <a:lstStyle/>
          <a:p>
            <a:pPr indent="0" marL="0">
              <a:buNone/>
            </a:pPr>
            <a:r>
              <a:rPr lang="en-US" sz="2600" b="1" dirty="0">
                <a:solidFill>
                  <a:schemeClr val="accent1"/>
                </a:solidFill>
              </a:rPr>
              <a:t>11</a:t>
            </a:r>
            <a:endParaRPr lang="en-US" sz="2600" dirty="0"/>
          </a:p>
        </p:txBody>
      </p:sp>
      <p:sp>
        <p:nvSpPr>
          <p:cNvPr id="8" name="stat-api-label"/>
          <p:cNvSpPr txBox="1"/>
          <p:nvPr/>
        </p:nvSpPr>
        <p:spPr>
          <a:xfrm>
            <a:off x="5806440" y="3024378"/>
            <a:ext cx="1165860" cy="310896"/>
          </a:xfrm>
          <a:prstGeom prst="rect">
            <a:avLst/>
          </a:prstGeom>
          <a:noFill/>
          <a:ln/>
        </p:spPr>
        <p:txBody>
          <a:bodyPr wrap="square" lIns="0" tIns="0" rIns="0" bIns="0" rtlCol="0" anchor="t"/>
          <a:lstStyle/>
          <a:p>
            <a:pPr indent="0" marL="0">
              <a:buNone/>
            </a:pPr>
            <a:r>
              <a:rPr lang="en-US" sz="1100" dirty="0">
                <a:solidFill>
                  <a:schemeClr val="tx1"/>
                </a:solidFill>
              </a:rPr>
              <a:t>REST endpoints</a:t>
            </a:r>
            <a:endParaRPr lang="en-US" sz="1100" dirty="0"/>
          </a:p>
        </p:txBody>
      </p:sp>
      <p:sp>
        <p:nvSpPr>
          <p:cNvPr id="9" name="stat-tests-card"/>
          <p:cNvSpPr/>
          <p:nvPr/>
        </p:nvSpPr>
        <p:spPr>
          <a:xfrm>
            <a:off x="7246620" y="2423160"/>
            <a:ext cx="1440180" cy="960120"/>
          </a:xfrm>
          <a:prstGeom prst="roundRect">
            <a:avLst>
              <a:gd name="adj" fmla="val 7619"/>
            </a:avLst>
          </a:prstGeom>
          <a:solidFill>
            <a:schemeClr val="bg2"/>
          </a:solidFill>
          <a:ln w="12700">
            <a:solidFill>
              <a:schemeClr val="bg2"/>
            </a:solidFill>
            <a:prstDash val="solid"/>
          </a:ln>
        </p:spPr>
      </p:sp>
      <p:sp>
        <p:nvSpPr>
          <p:cNvPr id="10" name="stat-tests-value"/>
          <p:cNvSpPr txBox="1"/>
          <p:nvPr/>
        </p:nvSpPr>
        <p:spPr>
          <a:xfrm>
            <a:off x="7383780" y="2496312"/>
            <a:ext cx="1165860" cy="528066"/>
          </a:xfrm>
          <a:prstGeom prst="rect">
            <a:avLst/>
          </a:prstGeom>
          <a:noFill/>
          <a:ln/>
        </p:spPr>
        <p:txBody>
          <a:bodyPr wrap="square" lIns="0" tIns="0" rIns="0" bIns="0" rtlCol="0" anchor="b"/>
          <a:lstStyle/>
          <a:p>
            <a:pPr indent="0" marL="0">
              <a:buNone/>
            </a:pPr>
            <a:r>
              <a:rPr lang="en-US" sz="2600" b="1" dirty="0">
                <a:solidFill>
                  <a:schemeClr val="accent2"/>
                </a:solidFill>
              </a:rPr>
              <a:t>31</a:t>
            </a:r>
            <a:endParaRPr lang="en-US" sz="2600" dirty="0"/>
          </a:p>
        </p:txBody>
      </p:sp>
      <p:sp>
        <p:nvSpPr>
          <p:cNvPr id="11" name="stat-tests-label"/>
          <p:cNvSpPr txBox="1"/>
          <p:nvPr/>
        </p:nvSpPr>
        <p:spPr>
          <a:xfrm>
            <a:off x="7383780" y="3024378"/>
            <a:ext cx="1165860" cy="310896"/>
          </a:xfrm>
          <a:prstGeom prst="rect">
            <a:avLst/>
          </a:prstGeom>
          <a:noFill/>
          <a:ln/>
        </p:spPr>
        <p:txBody>
          <a:bodyPr wrap="square" lIns="0" tIns="0" rIns="0" bIns="0" rtlCol="0" anchor="t"/>
          <a:lstStyle/>
          <a:p>
            <a:pPr indent="0" marL="0">
              <a:buNone/>
            </a:pPr>
            <a:r>
              <a:rPr lang="en-US" sz="1100" dirty="0">
                <a:solidFill>
                  <a:schemeClr val="tx1"/>
                </a:solidFill>
              </a:rPr>
              <a:t>pytest tests</a:t>
            </a:r>
            <a:endParaRPr lang="en-US" sz="1100" dirty="0"/>
          </a:p>
        </p:txBody>
      </p:sp>
      <p:sp>
        <p:nvSpPr>
          <p:cNvPr id="12" name="stat-cve-card"/>
          <p:cNvSpPr/>
          <p:nvPr/>
        </p:nvSpPr>
        <p:spPr>
          <a:xfrm>
            <a:off x="5669280" y="3520440"/>
            <a:ext cx="1440180" cy="960120"/>
          </a:xfrm>
          <a:prstGeom prst="roundRect">
            <a:avLst>
              <a:gd name="adj" fmla="val 7619"/>
            </a:avLst>
          </a:prstGeom>
          <a:solidFill>
            <a:schemeClr val="bg2"/>
          </a:solidFill>
          <a:ln w="12700">
            <a:solidFill>
              <a:schemeClr val="bg2"/>
            </a:solidFill>
            <a:prstDash val="solid"/>
          </a:ln>
        </p:spPr>
      </p:sp>
      <p:sp>
        <p:nvSpPr>
          <p:cNvPr id="13" name="stat-cve-value"/>
          <p:cNvSpPr txBox="1"/>
          <p:nvPr/>
        </p:nvSpPr>
        <p:spPr>
          <a:xfrm>
            <a:off x="5806440" y="3593592"/>
            <a:ext cx="1165860" cy="528066"/>
          </a:xfrm>
          <a:prstGeom prst="rect">
            <a:avLst/>
          </a:prstGeom>
          <a:noFill/>
          <a:ln/>
        </p:spPr>
        <p:txBody>
          <a:bodyPr wrap="square" lIns="0" tIns="0" rIns="0" bIns="0" rtlCol="0" anchor="b"/>
          <a:lstStyle/>
          <a:p>
            <a:pPr indent="0" marL="0">
              <a:buNone/>
            </a:pPr>
            <a:r>
              <a:rPr lang="en-US" sz="2600" b="1" dirty="0">
                <a:solidFill>
                  <a:schemeClr val="accent2"/>
                </a:solidFill>
              </a:rPr>
              <a:t>0</a:t>
            </a:r>
            <a:endParaRPr lang="en-US" sz="2600" dirty="0"/>
          </a:p>
        </p:txBody>
      </p:sp>
      <p:sp>
        <p:nvSpPr>
          <p:cNvPr id="14" name="stat-cve-label"/>
          <p:cNvSpPr txBox="1"/>
          <p:nvPr/>
        </p:nvSpPr>
        <p:spPr>
          <a:xfrm>
            <a:off x="5806440" y="4121658"/>
            <a:ext cx="1165860" cy="310896"/>
          </a:xfrm>
          <a:prstGeom prst="rect">
            <a:avLst/>
          </a:prstGeom>
          <a:noFill/>
          <a:ln/>
        </p:spPr>
        <p:txBody>
          <a:bodyPr wrap="square" lIns="0" tIns="0" rIns="0" bIns="0" rtlCol="0" anchor="t"/>
          <a:lstStyle/>
          <a:p>
            <a:pPr indent="0" marL="0">
              <a:buNone/>
            </a:pPr>
            <a:r>
              <a:rPr lang="en-US" sz="1100" dirty="0">
                <a:solidFill>
                  <a:schemeClr val="tx1"/>
                </a:solidFill>
              </a:rPr>
              <a:t>HIGH / CRITICAL CVEs</a:t>
            </a:r>
            <a:endParaRPr lang="en-US" sz="1100" dirty="0"/>
          </a:p>
        </p:txBody>
      </p:sp>
      <p:sp>
        <p:nvSpPr>
          <p:cNvPr id="15" name="stat-tables-card"/>
          <p:cNvSpPr/>
          <p:nvPr/>
        </p:nvSpPr>
        <p:spPr>
          <a:xfrm>
            <a:off x="7246620" y="3520440"/>
            <a:ext cx="1440180" cy="960120"/>
          </a:xfrm>
          <a:prstGeom prst="roundRect">
            <a:avLst>
              <a:gd name="adj" fmla="val 7619"/>
            </a:avLst>
          </a:prstGeom>
          <a:solidFill>
            <a:schemeClr val="bg2"/>
          </a:solidFill>
          <a:ln w="12700">
            <a:solidFill>
              <a:schemeClr val="bg2"/>
            </a:solidFill>
            <a:prstDash val="solid"/>
          </a:ln>
        </p:spPr>
      </p:sp>
      <p:sp>
        <p:nvSpPr>
          <p:cNvPr id="16" name="stat-tables-value"/>
          <p:cNvSpPr txBox="1"/>
          <p:nvPr/>
        </p:nvSpPr>
        <p:spPr>
          <a:xfrm>
            <a:off x="7383780" y="3593592"/>
            <a:ext cx="1165860" cy="528066"/>
          </a:xfrm>
          <a:prstGeom prst="rect">
            <a:avLst/>
          </a:prstGeom>
          <a:noFill/>
          <a:ln/>
        </p:spPr>
        <p:txBody>
          <a:bodyPr wrap="square" lIns="0" tIns="0" rIns="0" bIns="0" rtlCol="0" anchor="b"/>
          <a:lstStyle/>
          <a:p>
            <a:pPr indent="0" marL="0">
              <a:buNone/>
            </a:pPr>
            <a:r>
              <a:rPr lang="en-US" sz="2600" b="1" dirty="0">
                <a:solidFill>
                  <a:schemeClr val="accent4"/>
                </a:solidFill>
              </a:rPr>
              <a:t>2</a:t>
            </a:r>
            <a:endParaRPr lang="en-US" sz="2600" dirty="0"/>
          </a:p>
        </p:txBody>
      </p:sp>
      <p:sp>
        <p:nvSpPr>
          <p:cNvPr id="17" name="stat-tables-label"/>
          <p:cNvSpPr txBox="1"/>
          <p:nvPr/>
        </p:nvSpPr>
        <p:spPr>
          <a:xfrm>
            <a:off x="7383780" y="4121658"/>
            <a:ext cx="1165860" cy="310896"/>
          </a:xfrm>
          <a:prstGeom prst="rect">
            <a:avLst/>
          </a:prstGeom>
          <a:noFill/>
          <a:ln/>
        </p:spPr>
        <p:txBody>
          <a:bodyPr wrap="square" lIns="0" tIns="0" rIns="0" bIns="0" rtlCol="0" anchor="t"/>
          <a:lstStyle/>
          <a:p>
            <a:pPr indent="0" marL="0">
              <a:buNone/>
            </a:pPr>
            <a:r>
              <a:rPr lang="en-US" sz="1100" dirty="0">
                <a:solidFill>
                  <a:schemeClr val="tx1"/>
                </a:solidFill>
              </a:rPr>
              <a:t>tables via Alembic</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000" b="1" dirty="0">
                <a:solidFill>
                  <a:schemeClr val="tx1"/>
                </a:solidFill>
              </a:rPr>
              <a:t>Architecture overview</a:t>
            </a:r>
            <a:endParaRPr lang="en-US" sz="3000" dirty="0"/>
          </a:p>
        </p:txBody>
      </p:sp>
      <p:sp>
        <p:nvSpPr>
          <p:cNvPr id="3" name="dev"/>
          <p:cNvSpPr txBox="1"/>
          <p:nvPr/>
        </p:nvSpPr>
        <p:spPr>
          <a:xfrm>
            <a:off x="457200" y="1005840"/>
            <a:ext cx="1325880" cy="685800"/>
          </a:xfrm>
          <a:prstGeom prst="roundRect">
            <a:avLst>
              <a:gd name="adj" fmla="val 10667"/>
            </a:avLst>
          </a:prstGeom>
          <a:solidFill>
            <a:schemeClr val="bg1"/>
          </a:solidFill>
          <a:ln w="12700">
            <a:solidFill>
              <a:schemeClr val="accent5"/>
            </a:solidFill>
          </a:ln>
        </p:spPr>
        <p:txBody>
          <a:bodyPr wrap="square" lIns="635" tIns="635" rIns="635" bIns="635" rtlCol="0" anchor="ctr"/>
          <a:lstStyle/>
          <a:p>
            <a:pPr algn="ctr" indent="0" marL="0">
              <a:buNone/>
            </a:pPr>
            <a:r>
              <a:rPr lang="en-US" sz="1200" b="1" dirty="0">
                <a:solidFill>
                  <a:schemeClr val="tx1"/>
                </a:solidFill>
              </a:rPr>
              <a:t>Developer</a:t>
            </a:r>
            <a:endParaRPr lang="en-US" sz="1200" dirty="0"/>
          </a:p>
          <a:p>
            <a:pPr algn="ctr" indent="0" marL="0">
              <a:buNone/>
            </a:pPr>
            <a:r>
              <a:rPr lang="en-US" sz="1000" dirty="0">
                <a:solidFill>
                  <a:schemeClr val="tx1"/>
                </a:solidFill>
              </a:rPr>
              <a:t>git push to main</a:t>
            </a:r>
            <a:endParaRPr lang="en-US" sz="1200" dirty="0"/>
          </a:p>
        </p:txBody>
      </p:sp>
      <p:sp>
        <p:nvSpPr>
          <p:cNvPr id="4" name="ci"/>
          <p:cNvSpPr txBox="1"/>
          <p:nvPr/>
        </p:nvSpPr>
        <p:spPr>
          <a:xfrm>
            <a:off x="2057400" y="1005840"/>
            <a:ext cx="2514600" cy="685800"/>
          </a:xfrm>
          <a:prstGeom prst="roundRect">
            <a:avLst>
              <a:gd name="adj" fmla="val 10667"/>
            </a:avLst>
          </a:prstGeom>
          <a:solidFill>
            <a:schemeClr val="bg1"/>
          </a:solidFill>
          <a:ln w="12700">
            <a:solidFill>
              <a:schemeClr val="accent1"/>
            </a:solidFill>
          </a:ln>
        </p:spPr>
        <p:txBody>
          <a:bodyPr wrap="square" lIns="635" tIns="635" rIns="635" bIns="635" rtlCol="0" anchor="ctr"/>
          <a:lstStyle/>
          <a:p>
            <a:pPr algn="ctr" indent="0" marL="0">
              <a:buNone/>
            </a:pPr>
            <a:r>
              <a:rPr lang="en-US" sz="1200" b="1" dirty="0">
                <a:solidFill>
                  <a:schemeClr val="tx1"/>
                </a:solidFill>
              </a:rPr>
              <a:t>GitHub Actions</a:t>
            </a:r>
            <a:endParaRPr lang="en-US" sz="1200" dirty="0"/>
          </a:p>
          <a:p>
            <a:pPr algn="ctr" indent="0" marL="0">
              <a:buNone/>
            </a:pPr>
            <a:r>
              <a:rPr lang="en-US" sz="1000" dirty="0">
                <a:solidFill>
                  <a:schemeClr val="tx1"/>
                </a:solidFill>
              </a:rPr>
              <a:t>tests → build → Trivy scan</a:t>
            </a:r>
            <a:endParaRPr lang="en-US" sz="1200" dirty="0"/>
          </a:p>
        </p:txBody>
      </p:sp>
      <p:sp>
        <p:nvSpPr>
          <p:cNvPr id="5" name="ghcr"/>
          <p:cNvSpPr txBox="1"/>
          <p:nvPr/>
        </p:nvSpPr>
        <p:spPr>
          <a:xfrm>
            <a:off x="4846320" y="1005840"/>
            <a:ext cx="1691640" cy="685800"/>
          </a:xfrm>
          <a:prstGeom prst="roundRect">
            <a:avLst>
              <a:gd name="adj" fmla="val 10667"/>
            </a:avLst>
          </a:prstGeom>
          <a:solidFill>
            <a:schemeClr val="bg1"/>
          </a:solidFill>
          <a:ln w="12700">
            <a:solidFill>
              <a:schemeClr val="accent5"/>
            </a:solidFill>
          </a:ln>
        </p:spPr>
        <p:txBody>
          <a:bodyPr wrap="square" lIns="635" tIns="635" rIns="635" bIns="635" rtlCol="0" anchor="ctr"/>
          <a:lstStyle/>
          <a:p>
            <a:pPr algn="ctr" indent="0" marL="0">
              <a:buNone/>
            </a:pPr>
            <a:r>
              <a:rPr lang="en-US" sz="1200" b="1" dirty="0">
                <a:solidFill>
                  <a:schemeClr val="tx1"/>
                </a:solidFill>
              </a:rPr>
              <a:t>GHCR</a:t>
            </a:r>
            <a:endParaRPr lang="en-US" sz="1200" dirty="0"/>
          </a:p>
          <a:p>
            <a:pPr algn="ctr" indent="0" marL="0">
              <a:buNone/>
            </a:pPr>
            <a:r>
              <a:rPr lang="en-US" sz="1000" dirty="0">
                <a:solidFill>
                  <a:schemeClr val="tx1"/>
                </a:solidFill>
              </a:rPr>
              <a:t>images tagged by SHA</a:t>
            </a:r>
            <a:endParaRPr lang="en-US" sz="1200" dirty="0"/>
          </a:p>
        </p:txBody>
      </p:sp>
      <p:sp>
        <p:nvSpPr>
          <p:cNvPr id="6" name="helm"/>
          <p:cNvSpPr txBox="1"/>
          <p:nvPr/>
        </p:nvSpPr>
        <p:spPr>
          <a:xfrm>
            <a:off x="6812280" y="1005840"/>
            <a:ext cx="1874520" cy="685800"/>
          </a:xfrm>
          <a:prstGeom prst="roundRect">
            <a:avLst>
              <a:gd name="adj" fmla="val 10667"/>
            </a:avLst>
          </a:prstGeom>
          <a:solidFill>
            <a:schemeClr val="bg1"/>
          </a:solidFill>
          <a:ln w="12700">
            <a:solidFill>
              <a:schemeClr val="accent1"/>
            </a:solidFill>
          </a:ln>
        </p:spPr>
        <p:txBody>
          <a:bodyPr wrap="square" lIns="635" tIns="635" rIns="635" bIns="635" rtlCol="0" anchor="ctr"/>
          <a:lstStyle/>
          <a:p>
            <a:pPr algn="ctr" indent="0" marL="0">
              <a:buNone/>
            </a:pPr>
            <a:r>
              <a:rPr lang="en-US" sz="1200" b="1" dirty="0">
                <a:solidFill>
                  <a:schemeClr val="tx1"/>
                </a:solidFill>
              </a:rPr>
              <a:t>Helm deploy</a:t>
            </a:r>
            <a:endParaRPr lang="en-US" sz="1200" dirty="0"/>
          </a:p>
          <a:p>
            <a:pPr algn="ctr" indent="0" marL="0">
              <a:buNone/>
            </a:pPr>
            <a:r>
              <a:rPr lang="en-US" sz="1000" dirty="0">
                <a:solidFill>
                  <a:schemeClr val="tx1"/>
                </a:solidFill>
              </a:rPr>
              <a:t>upgrade --install</a:t>
            </a:r>
            <a:endParaRPr lang="en-US" sz="1200" dirty="0"/>
          </a:p>
        </p:txBody>
      </p:sp>
      <p:sp>
        <p:nvSpPr>
          <p:cNvPr id="7" name="a-dev-ci"/>
          <p:cNvSpPr/>
          <p:nvPr/>
        </p:nvSpPr>
        <p:spPr>
          <a:xfrm>
            <a:off x="1783080" y="1348740"/>
            <a:ext cx="274320" cy="0"/>
          </a:xfrm>
          <a:prstGeom prst="line">
            <a:avLst/>
          </a:prstGeom>
          <a:noFill/>
          <a:ln w="19050">
            <a:solidFill>
              <a:schemeClr val="accent1"/>
            </a:solidFill>
            <a:prstDash val="solid"/>
            <a:tailEnd type="triangle"/>
          </a:ln>
        </p:spPr>
      </p:sp>
      <p:sp>
        <p:nvSpPr>
          <p:cNvPr id="8" name="a-ci-ghcr"/>
          <p:cNvSpPr/>
          <p:nvPr/>
        </p:nvSpPr>
        <p:spPr>
          <a:xfrm>
            <a:off x="4572000" y="1348740"/>
            <a:ext cx="274320" cy="0"/>
          </a:xfrm>
          <a:prstGeom prst="line">
            <a:avLst/>
          </a:prstGeom>
          <a:noFill/>
          <a:ln w="19050">
            <a:solidFill>
              <a:schemeClr val="accent1"/>
            </a:solidFill>
            <a:prstDash val="solid"/>
            <a:tailEnd type="triangle"/>
          </a:ln>
        </p:spPr>
      </p:sp>
      <p:sp>
        <p:nvSpPr>
          <p:cNvPr id="9" name="a-ghcr-helm"/>
          <p:cNvSpPr/>
          <p:nvPr/>
        </p:nvSpPr>
        <p:spPr>
          <a:xfrm>
            <a:off x="6537960" y="1348740"/>
            <a:ext cx="274320" cy="0"/>
          </a:xfrm>
          <a:prstGeom prst="line">
            <a:avLst/>
          </a:prstGeom>
          <a:noFill/>
          <a:ln w="19050">
            <a:solidFill>
              <a:schemeClr val="accent1"/>
            </a:solidFill>
            <a:prstDash val="solid"/>
            <a:tailEnd type="triangle"/>
          </a:ln>
        </p:spPr>
      </p:sp>
      <p:sp>
        <p:nvSpPr>
          <p:cNvPr id="10" name="aws-zone"/>
          <p:cNvSpPr/>
          <p:nvPr/>
        </p:nvSpPr>
        <p:spPr>
          <a:xfrm>
            <a:off x="457200" y="2011680"/>
            <a:ext cx="8229600" cy="2743200"/>
          </a:xfrm>
          <a:prstGeom prst="roundRect">
            <a:avLst>
              <a:gd name="adj" fmla="val 3333"/>
            </a:avLst>
          </a:prstGeom>
          <a:solidFill>
            <a:schemeClr val="bg2"/>
          </a:solidFill>
          <a:ln w="12700">
            <a:solidFill>
              <a:schemeClr val="accent5"/>
            </a:solidFill>
            <a:prstDash val="dash"/>
          </a:ln>
        </p:spPr>
      </p:sp>
      <p:sp>
        <p:nvSpPr>
          <p:cNvPr id="11" name="aws-label"/>
          <p:cNvSpPr txBox="1"/>
          <p:nvPr/>
        </p:nvSpPr>
        <p:spPr>
          <a:xfrm>
            <a:off x="640080" y="2075688"/>
            <a:ext cx="5486400" cy="274320"/>
          </a:xfrm>
          <a:prstGeom prst="rect">
            <a:avLst/>
          </a:prstGeom>
          <a:noFill/>
          <a:ln/>
        </p:spPr>
        <p:txBody>
          <a:bodyPr wrap="square" lIns="0" tIns="0" rIns="0" bIns="0" rtlCol="0" anchor="ctr"/>
          <a:lstStyle/>
          <a:p>
            <a:pPr indent="0" marL="0">
              <a:buNone/>
            </a:pPr>
            <a:r>
              <a:rPr lang="en-US" sz="1100" b="1" dirty="0">
                <a:solidFill>
                  <a:schemeClr val="tx1"/>
                </a:solidFill>
              </a:rPr>
              <a:t>AWS ap-southeast-2  ·  VPC + EKS cluster provisioned by Terraform</a:t>
            </a:r>
            <a:endParaRPr lang="en-US" sz="1100" dirty="0"/>
          </a:p>
        </p:txBody>
      </p:sp>
      <p:sp>
        <p:nvSpPr>
          <p:cNvPr id="12" name="a-helm-eks"/>
          <p:cNvSpPr/>
          <p:nvPr/>
        </p:nvSpPr>
        <p:spPr>
          <a:xfrm>
            <a:off x="7749540" y="1691640"/>
            <a:ext cx="0" cy="320040"/>
          </a:xfrm>
          <a:prstGeom prst="line">
            <a:avLst/>
          </a:prstGeom>
          <a:noFill/>
          <a:ln w="19050">
            <a:solidFill>
              <a:schemeClr val="accent1"/>
            </a:solidFill>
            <a:prstDash val="solid"/>
            <a:tailEnd type="triangle"/>
          </a:ln>
        </p:spPr>
      </p:sp>
      <p:sp>
        <p:nvSpPr>
          <p:cNvPr id="13" name="nlb"/>
          <p:cNvSpPr txBox="1"/>
          <p:nvPr/>
        </p:nvSpPr>
        <p:spPr>
          <a:xfrm>
            <a:off x="685800" y="2788920"/>
            <a:ext cx="1234440" cy="685800"/>
          </a:xfrm>
          <a:prstGeom prst="roundRect">
            <a:avLst>
              <a:gd name="adj" fmla="val 10667"/>
            </a:avLst>
          </a:prstGeom>
          <a:solidFill>
            <a:schemeClr val="bg1"/>
          </a:solidFill>
          <a:ln w="12700">
            <a:solidFill>
              <a:schemeClr val="accent5"/>
            </a:solidFill>
          </a:ln>
        </p:spPr>
        <p:txBody>
          <a:bodyPr wrap="square" lIns="635" tIns="635" rIns="635" bIns="635" rtlCol="0" anchor="ctr"/>
          <a:lstStyle/>
          <a:p>
            <a:pPr algn="ctr" indent="0" marL="0">
              <a:buNone/>
            </a:pPr>
            <a:r>
              <a:rPr lang="en-US" sz="1200" b="1" dirty="0">
                <a:solidFill>
                  <a:schemeClr val="tx1"/>
                </a:solidFill>
              </a:rPr>
              <a:t>Load balancer</a:t>
            </a:r>
            <a:endParaRPr lang="en-US" sz="1200" dirty="0"/>
          </a:p>
          <a:p>
            <a:pPr algn="ctr" indent="0" marL="0">
              <a:buNone/>
            </a:pPr>
            <a:r>
              <a:rPr lang="en-US" sz="1000" dirty="0">
                <a:solidFill>
                  <a:schemeClr val="tx1"/>
                </a:solidFill>
              </a:rPr>
              <a:t>AWS NLB</a:t>
            </a:r>
            <a:endParaRPr lang="en-US" sz="1200" dirty="0"/>
          </a:p>
        </p:txBody>
      </p:sp>
      <p:sp>
        <p:nvSpPr>
          <p:cNvPr id="14" name="traefik"/>
          <p:cNvSpPr txBox="1"/>
          <p:nvPr/>
        </p:nvSpPr>
        <p:spPr>
          <a:xfrm>
            <a:off x="2194560" y="2788920"/>
            <a:ext cx="1417320" cy="685800"/>
          </a:xfrm>
          <a:prstGeom prst="roundRect">
            <a:avLst>
              <a:gd name="adj" fmla="val 10667"/>
            </a:avLst>
          </a:prstGeom>
          <a:solidFill>
            <a:schemeClr val="bg1"/>
          </a:solidFill>
          <a:ln w="12700">
            <a:solidFill>
              <a:schemeClr val="accent1"/>
            </a:solidFill>
          </a:ln>
        </p:spPr>
        <p:txBody>
          <a:bodyPr wrap="square" lIns="635" tIns="635" rIns="635" bIns="635" rtlCol="0" anchor="ctr"/>
          <a:lstStyle/>
          <a:p>
            <a:pPr algn="ctr" indent="0" marL="0">
              <a:buNone/>
            </a:pPr>
            <a:r>
              <a:rPr lang="en-US" sz="1200" b="1" dirty="0">
                <a:solidFill>
                  <a:schemeClr val="tx1"/>
                </a:solidFill>
              </a:rPr>
              <a:t>Traefik</a:t>
            </a:r>
            <a:endParaRPr lang="en-US" sz="1200" dirty="0"/>
          </a:p>
          <a:p>
            <a:pPr algn="ctr" indent="0" marL="0">
              <a:buNone/>
            </a:pPr>
            <a:r>
              <a:rPr lang="en-US" sz="1000" dirty="0">
                <a:solidFill>
                  <a:schemeClr val="tx1"/>
                </a:solidFill>
              </a:rPr>
              <a:t>Ingress</a:t>
            </a:r>
            <a:endParaRPr lang="en-US" sz="1200" dirty="0"/>
          </a:p>
        </p:txBody>
      </p:sp>
      <p:sp>
        <p:nvSpPr>
          <p:cNvPr id="15" name="frontend"/>
          <p:cNvSpPr txBox="1"/>
          <p:nvPr/>
        </p:nvSpPr>
        <p:spPr>
          <a:xfrm>
            <a:off x="3931920" y="2377440"/>
            <a:ext cx="1737360" cy="640080"/>
          </a:xfrm>
          <a:prstGeom prst="roundRect">
            <a:avLst>
              <a:gd name="adj" fmla="val 11429"/>
            </a:avLst>
          </a:prstGeom>
          <a:solidFill>
            <a:schemeClr val="bg1"/>
          </a:solidFill>
          <a:ln w="12700">
            <a:solidFill>
              <a:schemeClr val="accent5"/>
            </a:solidFill>
          </a:ln>
        </p:spPr>
        <p:txBody>
          <a:bodyPr wrap="square" lIns="635" tIns="635" rIns="635" bIns="635" rtlCol="0" anchor="ctr"/>
          <a:lstStyle/>
          <a:p>
            <a:pPr algn="ctr" indent="0" marL="0">
              <a:buNone/>
            </a:pPr>
            <a:r>
              <a:rPr lang="en-US" sz="1200" b="1" dirty="0">
                <a:solidFill>
                  <a:schemeClr val="tx1"/>
                </a:solidFill>
              </a:rPr>
              <a:t>Frontend</a:t>
            </a:r>
            <a:endParaRPr lang="en-US" sz="1200" dirty="0"/>
          </a:p>
          <a:p>
            <a:pPr algn="ctr" indent="0" marL="0">
              <a:buNone/>
            </a:pPr>
            <a:r>
              <a:rPr lang="en-US" sz="1000" dirty="0">
                <a:solidFill>
                  <a:schemeClr val="tx1"/>
                </a:solidFill>
              </a:rPr>
              <a:t>React + Nginx ×2</a:t>
            </a:r>
            <a:endParaRPr lang="en-US" sz="1200" dirty="0"/>
          </a:p>
        </p:txBody>
      </p:sp>
      <p:sp>
        <p:nvSpPr>
          <p:cNvPr id="16" name="backend"/>
          <p:cNvSpPr txBox="1"/>
          <p:nvPr/>
        </p:nvSpPr>
        <p:spPr>
          <a:xfrm>
            <a:off x="3931920" y="3246120"/>
            <a:ext cx="1737360" cy="640080"/>
          </a:xfrm>
          <a:prstGeom prst="roundRect">
            <a:avLst>
              <a:gd name="adj" fmla="val 11429"/>
            </a:avLst>
          </a:prstGeom>
          <a:solidFill>
            <a:schemeClr val="bg1"/>
          </a:solidFill>
          <a:ln w="12700">
            <a:solidFill>
              <a:schemeClr val="accent1"/>
            </a:solidFill>
          </a:ln>
        </p:spPr>
        <p:txBody>
          <a:bodyPr wrap="square" lIns="635" tIns="635" rIns="635" bIns="635" rtlCol="0" anchor="ctr"/>
          <a:lstStyle/>
          <a:p>
            <a:pPr algn="ctr" indent="0" marL="0">
              <a:buNone/>
            </a:pPr>
            <a:r>
              <a:rPr lang="en-US" sz="1200" b="1" dirty="0">
                <a:solidFill>
                  <a:schemeClr val="tx1"/>
                </a:solidFill>
              </a:rPr>
              <a:t>Backend</a:t>
            </a:r>
            <a:endParaRPr lang="en-US" sz="1200" dirty="0"/>
          </a:p>
          <a:p>
            <a:pPr algn="ctr" indent="0" marL="0">
              <a:buNone/>
            </a:pPr>
            <a:r>
              <a:rPr lang="en-US" sz="1000" dirty="0">
                <a:solidFill>
                  <a:schemeClr val="tx1"/>
                </a:solidFill>
              </a:rPr>
              <a:t>FastAPI ×2–6 (HPA)</a:t>
            </a:r>
            <a:endParaRPr lang="en-US" sz="1200" dirty="0"/>
          </a:p>
        </p:txBody>
      </p:sp>
      <p:sp>
        <p:nvSpPr>
          <p:cNvPr id="17" name="postgres"/>
          <p:cNvSpPr txBox="1"/>
          <p:nvPr/>
        </p:nvSpPr>
        <p:spPr>
          <a:xfrm>
            <a:off x="6035040" y="3246120"/>
            <a:ext cx="2423160" cy="640080"/>
          </a:xfrm>
          <a:prstGeom prst="roundRect">
            <a:avLst>
              <a:gd name="adj" fmla="val 11429"/>
            </a:avLst>
          </a:prstGeom>
          <a:solidFill>
            <a:schemeClr val="bg1"/>
          </a:solidFill>
          <a:ln w="12700">
            <a:solidFill>
              <a:schemeClr val="accent5"/>
            </a:solidFill>
          </a:ln>
        </p:spPr>
        <p:txBody>
          <a:bodyPr wrap="square" lIns="635" tIns="635" rIns="635" bIns="635" rtlCol="0" anchor="ctr"/>
          <a:lstStyle/>
          <a:p>
            <a:pPr algn="ctr" indent="0" marL="0">
              <a:buNone/>
            </a:pPr>
            <a:r>
              <a:rPr lang="en-US" sz="1200" b="1" dirty="0">
                <a:solidFill>
                  <a:schemeClr val="tx1"/>
                </a:solidFill>
              </a:rPr>
              <a:t>PostgreSQL</a:t>
            </a:r>
            <a:endParaRPr lang="en-US" sz="1200" dirty="0"/>
          </a:p>
          <a:p>
            <a:pPr algn="ctr" indent="0" marL="0">
              <a:buNone/>
            </a:pPr>
            <a:r>
              <a:rPr lang="en-US" sz="1000" dirty="0">
                <a:solidFill>
                  <a:schemeClr val="tx1"/>
                </a:solidFill>
              </a:rPr>
              <a:t>StatefulSet + EBS volume</a:t>
            </a:r>
            <a:endParaRPr lang="en-US" sz="1200" dirty="0"/>
          </a:p>
        </p:txBody>
      </p:sp>
      <p:sp>
        <p:nvSpPr>
          <p:cNvPr id="18" name="prom"/>
          <p:cNvSpPr txBox="1"/>
          <p:nvPr/>
        </p:nvSpPr>
        <p:spPr>
          <a:xfrm>
            <a:off x="3931920" y="4023360"/>
            <a:ext cx="1737360" cy="594360"/>
          </a:xfrm>
          <a:prstGeom prst="roundRect">
            <a:avLst>
              <a:gd name="adj" fmla="val 12308"/>
            </a:avLst>
          </a:prstGeom>
          <a:solidFill>
            <a:schemeClr val="bg1"/>
          </a:solidFill>
          <a:ln w="12700">
            <a:solidFill>
              <a:schemeClr val="accent3"/>
            </a:solidFill>
          </a:ln>
        </p:spPr>
        <p:txBody>
          <a:bodyPr wrap="square" lIns="635" tIns="635" rIns="635" bIns="635" rtlCol="0" anchor="ctr"/>
          <a:lstStyle/>
          <a:p>
            <a:pPr algn="ctr" indent="0" marL="0">
              <a:buNone/>
            </a:pPr>
            <a:r>
              <a:rPr lang="en-US" sz="1200" b="1" dirty="0">
                <a:solidFill>
                  <a:schemeClr val="tx1"/>
                </a:solidFill>
              </a:rPr>
              <a:t>Prometheus</a:t>
            </a:r>
            <a:endParaRPr lang="en-US" sz="1200" dirty="0"/>
          </a:p>
          <a:p>
            <a:pPr algn="ctr" indent="0" marL="0">
              <a:buNone/>
            </a:pPr>
            <a:r>
              <a:rPr lang="en-US" sz="1000" dirty="0">
                <a:solidFill>
                  <a:schemeClr val="tx1"/>
                </a:solidFill>
              </a:rPr>
              <a:t>scrapes /metrics</a:t>
            </a:r>
            <a:endParaRPr lang="en-US" sz="1200" dirty="0"/>
          </a:p>
        </p:txBody>
      </p:sp>
      <p:sp>
        <p:nvSpPr>
          <p:cNvPr id="19" name="grafana"/>
          <p:cNvSpPr txBox="1"/>
          <p:nvPr/>
        </p:nvSpPr>
        <p:spPr>
          <a:xfrm>
            <a:off x="6035040" y="4023360"/>
            <a:ext cx="2423160" cy="594360"/>
          </a:xfrm>
          <a:prstGeom prst="roundRect">
            <a:avLst>
              <a:gd name="adj" fmla="val 12308"/>
            </a:avLst>
          </a:prstGeom>
          <a:solidFill>
            <a:schemeClr val="bg1"/>
          </a:solidFill>
          <a:ln w="12700">
            <a:solidFill>
              <a:schemeClr val="accent3"/>
            </a:solidFill>
          </a:ln>
        </p:spPr>
        <p:txBody>
          <a:bodyPr wrap="square" lIns="635" tIns="635" rIns="635" bIns="635" rtlCol="0" anchor="ctr"/>
          <a:lstStyle/>
          <a:p>
            <a:pPr algn="ctr" indent="0" marL="0">
              <a:buNone/>
            </a:pPr>
            <a:r>
              <a:rPr lang="en-US" sz="1200" b="1" dirty="0">
                <a:solidFill>
                  <a:schemeClr val="tx1"/>
                </a:solidFill>
              </a:rPr>
              <a:t>Grafana</a:t>
            </a:r>
            <a:endParaRPr lang="en-US" sz="1200" dirty="0"/>
          </a:p>
          <a:p>
            <a:pPr algn="ctr" indent="0" marL="0">
              <a:buNone/>
            </a:pPr>
            <a:r>
              <a:rPr lang="en-US" sz="1000" dirty="0">
                <a:solidFill>
                  <a:schemeClr val="tx1"/>
                </a:solidFill>
              </a:rPr>
              <a:t>dashboards + HPA view</a:t>
            </a:r>
            <a:endParaRPr lang="en-US" sz="1200" dirty="0"/>
          </a:p>
        </p:txBody>
      </p:sp>
      <p:sp>
        <p:nvSpPr>
          <p:cNvPr id="20" name="infra-note"/>
          <p:cNvSpPr txBox="1"/>
          <p:nvPr/>
        </p:nvSpPr>
        <p:spPr>
          <a:xfrm>
            <a:off x="6035040" y="2377440"/>
            <a:ext cx="2423160" cy="640080"/>
          </a:xfrm>
          <a:prstGeom prst="rect">
            <a:avLst/>
          </a:prstGeom>
          <a:noFill/>
          <a:ln/>
        </p:spPr>
        <p:txBody>
          <a:bodyPr wrap="square" lIns="0" tIns="0" rIns="0" bIns="0" rtlCol="0" anchor="ctr"/>
          <a:lstStyle/>
          <a:p>
            <a:pPr indent="0" marL="0">
              <a:buNone/>
            </a:pPr>
            <a:r>
              <a:rPr lang="en-US" sz="1000" dirty="0">
                <a:solidFill>
                  <a:schemeClr val="tx1"/>
                </a:solidFill>
              </a:rPr>
              <a:t>2 public + 2 private subnets · NAT gateway</a:t>
            </a:r>
            <a:endParaRPr lang="en-US" sz="1000" dirty="0"/>
          </a:p>
          <a:p>
            <a:pPr indent="0" marL="0">
              <a:buNone/>
            </a:pPr>
            <a:r>
              <a:rPr lang="en-US" sz="1000" dirty="0">
                <a:solidFill>
                  <a:schemeClr val="tx1"/>
                </a:solidFill>
              </a:rPr>
              <a:t>EKS 1.35 · 2 × m7i-flex.large nodes</a:t>
            </a:r>
            <a:endParaRPr lang="en-US" sz="1000" dirty="0"/>
          </a:p>
        </p:txBody>
      </p:sp>
      <p:sp>
        <p:nvSpPr>
          <p:cNvPr id="21" name="a-nlb-traefik"/>
          <p:cNvSpPr/>
          <p:nvPr/>
        </p:nvSpPr>
        <p:spPr>
          <a:xfrm>
            <a:off x="1920240" y="3131820"/>
            <a:ext cx="274320" cy="0"/>
          </a:xfrm>
          <a:prstGeom prst="line">
            <a:avLst/>
          </a:prstGeom>
          <a:noFill/>
          <a:ln w="19050">
            <a:solidFill>
              <a:schemeClr val="accent1"/>
            </a:solidFill>
            <a:prstDash val="solid"/>
            <a:tailEnd type="triangle"/>
          </a:ln>
        </p:spPr>
      </p:sp>
      <p:sp>
        <p:nvSpPr>
          <p:cNvPr id="22" name="a-traefik-fe"/>
          <p:cNvSpPr/>
          <p:nvPr/>
        </p:nvSpPr>
        <p:spPr>
          <a:xfrm flipV="1">
            <a:off x="3611880" y="2697480"/>
            <a:ext cx="320040" cy="320040"/>
          </a:xfrm>
          <a:prstGeom prst="line">
            <a:avLst/>
          </a:prstGeom>
          <a:noFill/>
          <a:ln w="19050">
            <a:solidFill>
              <a:schemeClr val="accent1"/>
            </a:solidFill>
            <a:prstDash val="solid"/>
            <a:tailEnd type="triangle"/>
          </a:ln>
        </p:spPr>
      </p:sp>
      <p:sp>
        <p:nvSpPr>
          <p:cNvPr id="23" name="a-traefik-be"/>
          <p:cNvSpPr/>
          <p:nvPr/>
        </p:nvSpPr>
        <p:spPr>
          <a:xfrm>
            <a:off x="3611880" y="3246120"/>
            <a:ext cx="320040" cy="320040"/>
          </a:xfrm>
          <a:prstGeom prst="line">
            <a:avLst/>
          </a:prstGeom>
          <a:noFill/>
          <a:ln w="19050">
            <a:solidFill>
              <a:schemeClr val="accent1"/>
            </a:solidFill>
            <a:prstDash val="solid"/>
            <a:tailEnd type="triangle"/>
          </a:ln>
        </p:spPr>
      </p:sp>
      <p:sp>
        <p:nvSpPr>
          <p:cNvPr id="24" name="lbl-root"/>
          <p:cNvSpPr txBox="1"/>
          <p:nvPr/>
        </p:nvSpPr>
        <p:spPr>
          <a:xfrm>
            <a:off x="3584448" y="2578608"/>
            <a:ext cx="274320" cy="228600"/>
          </a:xfrm>
          <a:prstGeom prst="rect">
            <a:avLst/>
          </a:prstGeom>
          <a:noFill/>
          <a:ln/>
        </p:spPr>
        <p:txBody>
          <a:bodyPr wrap="square" lIns="0" tIns="0" rIns="0" bIns="0" rtlCol="0" anchor="ctr"/>
          <a:lstStyle/>
          <a:p>
            <a:pPr indent="0" marL="0">
              <a:buNone/>
            </a:pPr>
            <a:r>
              <a:rPr lang="en-US" sz="1000" b="1" dirty="0">
                <a:solidFill>
                  <a:schemeClr val="accent1"/>
                </a:solidFill>
              </a:rPr>
              <a:t>/</a:t>
            </a:r>
            <a:endParaRPr lang="en-US" sz="1000" dirty="0"/>
          </a:p>
        </p:txBody>
      </p:sp>
      <p:sp>
        <p:nvSpPr>
          <p:cNvPr id="25" name="lbl-api"/>
          <p:cNvSpPr txBox="1"/>
          <p:nvPr/>
        </p:nvSpPr>
        <p:spPr>
          <a:xfrm>
            <a:off x="3520440" y="3520440"/>
            <a:ext cx="365760" cy="228600"/>
          </a:xfrm>
          <a:prstGeom prst="rect">
            <a:avLst/>
          </a:prstGeom>
          <a:noFill/>
          <a:ln/>
        </p:spPr>
        <p:txBody>
          <a:bodyPr wrap="square" lIns="0" tIns="0" rIns="0" bIns="0" rtlCol="0" anchor="ctr"/>
          <a:lstStyle/>
          <a:p>
            <a:pPr indent="0" marL="0">
              <a:buNone/>
            </a:pPr>
            <a:r>
              <a:rPr lang="en-US" sz="1000" b="1" dirty="0">
                <a:solidFill>
                  <a:schemeClr val="accent1"/>
                </a:solidFill>
              </a:rPr>
              <a:t>/api</a:t>
            </a:r>
            <a:endParaRPr lang="en-US" sz="1000" dirty="0"/>
          </a:p>
        </p:txBody>
      </p:sp>
      <p:sp>
        <p:nvSpPr>
          <p:cNvPr id="26" name="a-be-pg"/>
          <p:cNvSpPr/>
          <p:nvPr/>
        </p:nvSpPr>
        <p:spPr>
          <a:xfrm>
            <a:off x="5669280" y="3566160"/>
            <a:ext cx="365760" cy="0"/>
          </a:xfrm>
          <a:prstGeom prst="line">
            <a:avLst/>
          </a:prstGeom>
          <a:noFill/>
          <a:ln w="19050">
            <a:solidFill>
              <a:schemeClr val="accent1"/>
            </a:solidFill>
            <a:prstDash val="solid"/>
            <a:tailEnd type="triangle"/>
          </a:ln>
        </p:spPr>
      </p:sp>
      <p:sp>
        <p:nvSpPr>
          <p:cNvPr id="27" name="a-be-prom"/>
          <p:cNvSpPr/>
          <p:nvPr/>
        </p:nvSpPr>
        <p:spPr>
          <a:xfrm>
            <a:off x="4800600" y="3886200"/>
            <a:ext cx="0" cy="137160"/>
          </a:xfrm>
          <a:prstGeom prst="line">
            <a:avLst/>
          </a:prstGeom>
          <a:noFill/>
          <a:ln w="19050">
            <a:solidFill>
              <a:schemeClr val="accent3"/>
            </a:solidFill>
            <a:prstDash val="solid"/>
            <a:tailEnd type="triangle"/>
          </a:ln>
        </p:spPr>
      </p:sp>
      <p:sp>
        <p:nvSpPr>
          <p:cNvPr id="28" name="a-prom-graf"/>
          <p:cNvSpPr/>
          <p:nvPr/>
        </p:nvSpPr>
        <p:spPr>
          <a:xfrm>
            <a:off x="5669280" y="4320540"/>
            <a:ext cx="365760" cy="0"/>
          </a:xfrm>
          <a:prstGeom prst="line">
            <a:avLst/>
          </a:prstGeom>
          <a:noFill/>
          <a:ln w="19050">
            <a:solidFill>
              <a:schemeClr val="accent3"/>
            </a:solidFill>
            <a:prstDash val="solid"/>
            <a:tailEnd type="triangle"/>
          </a:ln>
        </p:spPr>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000" b="1" dirty="0">
                <a:solidFill>
                  <a:schemeClr val="tx1"/>
                </a:solidFill>
              </a:rPr>
              <a:t>It runs, scales and is monitored</a:t>
            </a:r>
            <a:endParaRPr lang="en-US" sz="3000" dirty="0"/>
          </a:p>
        </p:txBody>
      </p:sp>
      <p:pic>
        <p:nvPicPr>
          <p:cNvPr id="3" name="grafana-screenshot" descr="C:\Users\aadit\Desktop\DevOps\DevOps End Term Project\docs\screenshots\grafana-dashboard.png">    </p:cNvPr>
          <p:cNvPicPr>
            <a:picLocks noChangeAspect="1"/>
          </p:cNvPicPr>
          <p:nvPr/>
        </p:nvPicPr>
        <p:blipFill>
          <a:blip r:embed="rId1"/>
          <a:stretch>
            <a:fillRect/>
          </a:stretch>
        </p:blipFill>
        <p:spPr>
          <a:xfrm>
            <a:off x="457200" y="1051560"/>
            <a:ext cx="4754880" cy="3434486"/>
          </a:xfrm>
          <a:prstGeom prst="rect">
            <a:avLst/>
          </a:prstGeom>
          <a:effectLst>
            <a:outerShdw sx="100000" sy="100000" kx="0" ky="0" algn="bl" rotWithShape="0" blurRad="101600" dist="25400" dir="5400000">
              <a:srgbClr val="171A2B">
                <a:alpha val="18000"/>
              </a:srgbClr>
            </a:outerShdw>
          </a:effectLst>
        </p:spPr>
      </p:pic>
      <p:sp>
        <p:nvSpPr>
          <p:cNvPr id="4" name="grafana-caption"/>
          <p:cNvSpPr txBox="1"/>
          <p:nvPr/>
        </p:nvSpPr>
        <p:spPr>
          <a:xfrm>
            <a:off x="457200" y="4526280"/>
            <a:ext cx="4754880" cy="274320"/>
          </a:xfrm>
          <a:prstGeom prst="rect">
            <a:avLst/>
          </a:prstGeom>
          <a:noFill/>
          <a:ln/>
        </p:spPr>
        <p:txBody>
          <a:bodyPr wrap="square" lIns="0" tIns="0" rIns="0" bIns="0" rtlCol="0" anchor="ctr"/>
          <a:lstStyle/>
          <a:p>
            <a:pPr indent="0" marL="0">
              <a:buNone/>
            </a:pPr>
            <a:r>
              <a:rPr lang="en-US" sz="1000" i="1" dirty="0">
                <a:solidFill>
                  <a:schemeClr val="tx1"/>
                </a:solidFill>
              </a:rPr>
              <a:t>Grafana during the load test: traffic, latency, CPU and HPA replicas</a:t>
            </a:r>
            <a:endParaRPr lang="en-US" sz="1000" dirty="0"/>
          </a:p>
        </p:txBody>
      </p:sp>
      <p:sp>
        <p:nvSpPr>
          <p:cNvPr id="5" name="res-hpa-card"/>
          <p:cNvSpPr/>
          <p:nvPr/>
        </p:nvSpPr>
        <p:spPr>
          <a:xfrm>
            <a:off x="5486400" y="1051560"/>
            <a:ext cx="1508760" cy="1051560"/>
          </a:xfrm>
          <a:prstGeom prst="roundRect">
            <a:avLst>
              <a:gd name="adj" fmla="val 6957"/>
            </a:avLst>
          </a:prstGeom>
          <a:solidFill>
            <a:schemeClr val="bg2"/>
          </a:solidFill>
          <a:ln w="12700">
            <a:solidFill>
              <a:schemeClr val="bg2"/>
            </a:solidFill>
            <a:prstDash val="solid"/>
          </a:ln>
        </p:spPr>
      </p:sp>
      <p:sp>
        <p:nvSpPr>
          <p:cNvPr id="6" name="res-hpa-value"/>
          <p:cNvSpPr txBox="1"/>
          <p:nvPr/>
        </p:nvSpPr>
        <p:spPr>
          <a:xfrm>
            <a:off x="5623560" y="1124712"/>
            <a:ext cx="1234440" cy="578358"/>
          </a:xfrm>
          <a:prstGeom prst="rect">
            <a:avLst/>
          </a:prstGeom>
          <a:noFill/>
          <a:ln/>
        </p:spPr>
        <p:txBody>
          <a:bodyPr wrap="square" lIns="0" tIns="0" rIns="0" bIns="0" rtlCol="0" anchor="b"/>
          <a:lstStyle/>
          <a:p>
            <a:pPr indent="0" marL="0">
              <a:buNone/>
            </a:pPr>
            <a:r>
              <a:rPr lang="en-US" sz="2600" b="1" dirty="0">
                <a:solidFill>
                  <a:schemeClr val="accent1"/>
                </a:solidFill>
              </a:rPr>
              <a:t>2 → 6</a:t>
            </a:r>
            <a:endParaRPr lang="en-US" sz="2600" dirty="0"/>
          </a:p>
        </p:txBody>
      </p:sp>
      <p:sp>
        <p:nvSpPr>
          <p:cNvPr id="7" name="res-hpa-label"/>
          <p:cNvSpPr txBox="1"/>
          <p:nvPr/>
        </p:nvSpPr>
        <p:spPr>
          <a:xfrm>
            <a:off x="5623560" y="1703070"/>
            <a:ext cx="1234440" cy="347472"/>
          </a:xfrm>
          <a:prstGeom prst="rect">
            <a:avLst/>
          </a:prstGeom>
          <a:noFill/>
          <a:ln/>
        </p:spPr>
        <p:txBody>
          <a:bodyPr wrap="square" lIns="0" tIns="0" rIns="0" bIns="0" rtlCol="0" anchor="t"/>
          <a:lstStyle/>
          <a:p>
            <a:pPr indent="0" marL="0">
              <a:buNone/>
            </a:pPr>
            <a:r>
              <a:rPr lang="en-US" sz="1100" dirty="0">
                <a:solidFill>
                  <a:schemeClr val="tx1"/>
                </a:solidFill>
              </a:rPr>
              <a:t>backend pods under load (HPA)</a:t>
            </a:r>
            <a:endParaRPr lang="en-US" sz="1100" dirty="0"/>
          </a:p>
        </p:txBody>
      </p:sp>
      <p:sp>
        <p:nvSpPr>
          <p:cNvPr id="8" name="res-prom-card"/>
          <p:cNvSpPr/>
          <p:nvPr/>
        </p:nvSpPr>
        <p:spPr>
          <a:xfrm>
            <a:off x="7178040" y="1051560"/>
            <a:ext cx="1508760" cy="1051560"/>
          </a:xfrm>
          <a:prstGeom prst="roundRect">
            <a:avLst>
              <a:gd name="adj" fmla="val 6957"/>
            </a:avLst>
          </a:prstGeom>
          <a:solidFill>
            <a:schemeClr val="bg2"/>
          </a:solidFill>
          <a:ln w="12700">
            <a:solidFill>
              <a:schemeClr val="bg2"/>
            </a:solidFill>
            <a:prstDash val="solid"/>
          </a:ln>
        </p:spPr>
      </p:sp>
      <p:sp>
        <p:nvSpPr>
          <p:cNvPr id="9" name="res-prom-value"/>
          <p:cNvSpPr txBox="1"/>
          <p:nvPr/>
        </p:nvSpPr>
        <p:spPr>
          <a:xfrm>
            <a:off x="7315200" y="1124712"/>
            <a:ext cx="1234440" cy="578358"/>
          </a:xfrm>
          <a:prstGeom prst="rect">
            <a:avLst/>
          </a:prstGeom>
          <a:noFill/>
          <a:ln/>
        </p:spPr>
        <p:txBody>
          <a:bodyPr wrap="square" lIns="0" tIns="0" rIns="0" bIns="0" rtlCol="0" anchor="b"/>
          <a:lstStyle/>
          <a:p>
            <a:pPr indent="0" marL="0">
              <a:buNone/>
            </a:pPr>
            <a:r>
              <a:rPr lang="en-US" sz="2600" b="1" dirty="0">
                <a:solidFill>
                  <a:schemeClr val="accent2"/>
                </a:solidFill>
              </a:rPr>
              <a:t>5 / 5</a:t>
            </a:r>
            <a:endParaRPr lang="en-US" sz="2600" dirty="0"/>
          </a:p>
        </p:txBody>
      </p:sp>
      <p:sp>
        <p:nvSpPr>
          <p:cNvPr id="10" name="res-prom-label"/>
          <p:cNvSpPr txBox="1"/>
          <p:nvPr/>
        </p:nvSpPr>
        <p:spPr>
          <a:xfrm>
            <a:off x="7315200" y="1703070"/>
            <a:ext cx="1234440" cy="347472"/>
          </a:xfrm>
          <a:prstGeom prst="rect">
            <a:avLst/>
          </a:prstGeom>
          <a:noFill/>
          <a:ln/>
        </p:spPr>
        <p:txBody>
          <a:bodyPr wrap="square" lIns="0" tIns="0" rIns="0" bIns="0" rtlCol="0" anchor="t"/>
          <a:lstStyle/>
          <a:p>
            <a:pPr indent="0" marL="0">
              <a:buNone/>
            </a:pPr>
            <a:r>
              <a:rPr lang="en-US" sz="1100" dirty="0">
                <a:solidFill>
                  <a:schemeClr val="tx1"/>
                </a:solidFill>
              </a:rPr>
              <a:t>Prometheus targets UP</a:t>
            </a:r>
            <a:endParaRPr lang="en-US" sz="1100" dirty="0"/>
          </a:p>
        </p:txBody>
      </p:sp>
      <p:sp>
        <p:nvSpPr>
          <p:cNvPr id="11" name="res-ci-card"/>
          <p:cNvSpPr/>
          <p:nvPr/>
        </p:nvSpPr>
        <p:spPr>
          <a:xfrm>
            <a:off x="5486400" y="2240280"/>
            <a:ext cx="1508760" cy="1051560"/>
          </a:xfrm>
          <a:prstGeom prst="roundRect">
            <a:avLst>
              <a:gd name="adj" fmla="val 6957"/>
            </a:avLst>
          </a:prstGeom>
          <a:solidFill>
            <a:schemeClr val="bg2"/>
          </a:solidFill>
          <a:ln w="12700">
            <a:solidFill>
              <a:schemeClr val="bg2"/>
            </a:solidFill>
            <a:prstDash val="solid"/>
          </a:ln>
        </p:spPr>
      </p:sp>
      <p:sp>
        <p:nvSpPr>
          <p:cNvPr id="12" name="res-ci-value"/>
          <p:cNvSpPr txBox="1"/>
          <p:nvPr/>
        </p:nvSpPr>
        <p:spPr>
          <a:xfrm>
            <a:off x="5623560" y="2313432"/>
            <a:ext cx="1234440" cy="578358"/>
          </a:xfrm>
          <a:prstGeom prst="rect">
            <a:avLst/>
          </a:prstGeom>
          <a:noFill/>
          <a:ln/>
        </p:spPr>
        <p:txBody>
          <a:bodyPr wrap="square" lIns="0" tIns="0" rIns="0" bIns="0" rtlCol="0" anchor="b"/>
          <a:lstStyle/>
          <a:p>
            <a:pPr indent="0" marL="0">
              <a:buNone/>
            </a:pPr>
            <a:r>
              <a:rPr lang="en-US" sz="2600" b="1" dirty="0">
                <a:solidFill>
                  <a:schemeClr val="accent4"/>
                </a:solidFill>
              </a:rPr>
              <a:t>~2 min</a:t>
            </a:r>
            <a:endParaRPr lang="en-US" sz="2600" dirty="0"/>
          </a:p>
        </p:txBody>
      </p:sp>
      <p:sp>
        <p:nvSpPr>
          <p:cNvPr id="13" name="res-ci-label"/>
          <p:cNvSpPr txBox="1"/>
          <p:nvPr/>
        </p:nvSpPr>
        <p:spPr>
          <a:xfrm>
            <a:off x="5623560" y="2891790"/>
            <a:ext cx="1234440" cy="347472"/>
          </a:xfrm>
          <a:prstGeom prst="rect">
            <a:avLst/>
          </a:prstGeom>
          <a:noFill/>
          <a:ln/>
        </p:spPr>
        <p:txBody>
          <a:bodyPr wrap="square" lIns="0" tIns="0" rIns="0" bIns="0" rtlCol="0" anchor="t"/>
          <a:lstStyle/>
          <a:p>
            <a:pPr indent="0" marL="0">
              <a:buNone/>
            </a:pPr>
            <a:r>
              <a:rPr lang="en-US" sz="1100" dirty="0">
                <a:solidFill>
                  <a:schemeClr val="tx1"/>
                </a:solidFill>
              </a:rPr>
              <a:t>CI: test, build, scan, push</a:t>
            </a:r>
            <a:endParaRPr lang="en-US" sz="1100" dirty="0"/>
          </a:p>
        </p:txBody>
      </p:sp>
      <p:sp>
        <p:nvSpPr>
          <p:cNvPr id="14" name="res-tf-card"/>
          <p:cNvSpPr/>
          <p:nvPr/>
        </p:nvSpPr>
        <p:spPr>
          <a:xfrm>
            <a:off x="7178040" y="2240280"/>
            <a:ext cx="1508760" cy="1051560"/>
          </a:xfrm>
          <a:prstGeom prst="roundRect">
            <a:avLst>
              <a:gd name="adj" fmla="val 6957"/>
            </a:avLst>
          </a:prstGeom>
          <a:solidFill>
            <a:schemeClr val="bg2"/>
          </a:solidFill>
          <a:ln w="12700">
            <a:solidFill>
              <a:schemeClr val="bg2"/>
            </a:solidFill>
            <a:prstDash val="solid"/>
          </a:ln>
        </p:spPr>
      </p:sp>
      <p:sp>
        <p:nvSpPr>
          <p:cNvPr id="15" name="res-tf-value"/>
          <p:cNvSpPr txBox="1"/>
          <p:nvPr/>
        </p:nvSpPr>
        <p:spPr>
          <a:xfrm>
            <a:off x="7315200" y="2313432"/>
            <a:ext cx="1234440" cy="578358"/>
          </a:xfrm>
          <a:prstGeom prst="rect">
            <a:avLst/>
          </a:prstGeom>
          <a:noFill/>
          <a:ln/>
        </p:spPr>
        <p:txBody>
          <a:bodyPr wrap="square" lIns="0" tIns="0" rIns="0" bIns="0" rtlCol="0" anchor="b"/>
          <a:lstStyle/>
          <a:p>
            <a:pPr indent="0" marL="0">
              <a:buNone/>
            </a:pPr>
            <a:r>
              <a:rPr lang="en-US" sz="2600" b="1" dirty="0">
                <a:solidFill>
                  <a:schemeClr val="accent3"/>
                </a:solidFill>
              </a:rPr>
              <a:t>59</a:t>
            </a:r>
            <a:endParaRPr lang="en-US" sz="2600" dirty="0"/>
          </a:p>
        </p:txBody>
      </p:sp>
      <p:sp>
        <p:nvSpPr>
          <p:cNvPr id="16" name="res-tf-label"/>
          <p:cNvSpPr txBox="1"/>
          <p:nvPr/>
        </p:nvSpPr>
        <p:spPr>
          <a:xfrm>
            <a:off x="7315200" y="2891790"/>
            <a:ext cx="1234440" cy="347472"/>
          </a:xfrm>
          <a:prstGeom prst="rect">
            <a:avLst/>
          </a:prstGeom>
          <a:noFill/>
          <a:ln/>
        </p:spPr>
        <p:txBody>
          <a:bodyPr wrap="square" lIns="0" tIns="0" rIns="0" bIns="0" rtlCol="0" anchor="t"/>
          <a:lstStyle/>
          <a:p>
            <a:pPr indent="0" marL="0">
              <a:buNone/>
            </a:pPr>
            <a:r>
              <a:rPr lang="en-US" sz="1100" dirty="0">
                <a:solidFill>
                  <a:schemeClr val="tx1"/>
                </a:solidFill>
              </a:rPr>
              <a:t>AWS resources from Terraform</a:t>
            </a:r>
            <a:endParaRPr lang="en-US" sz="1100" dirty="0"/>
          </a:p>
        </p:txBody>
      </p:sp>
      <p:sp>
        <p:nvSpPr>
          <p:cNvPr id="17" name="trace-note"/>
          <p:cNvSpPr txBox="1"/>
          <p:nvPr/>
        </p:nvSpPr>
        <p:spPr>
          <a:xfrm>
            <a:off x="5486400" y="3474720"/>
            <a:ext cx="3200400" cy="914400"/>
          </a:xfrm>
          <a:prstGeom prst="rect">
            <a:avLst/>
          </a:prstGeom>
          <a:noFill/>
          <a:ln/>
        </p:spPr>
        <p:txBody>
          <a:bodyPr wrap="square" lIns="0" tIns="0" rIns="0" bIns="0" rtlCol="0" anchor="t"/>
          <a:lstStyle/>
          <a:p>
            <a:pPr indent="0" marL="0">
              <a:buNone/>
            </a:pPr>
            <a:r>
              <a:rPr lang="en-US" sz="1400" dirty="0">
                <a:solidFill>
                  <a:schemeClr val="tx1"/>
                </a:solidFill>
              </a:rPr>
              <a:t>Every Pod runs an image tagged with its Git commit, and the live UI shows that SHA.</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3000" b="1" dirty="0">
                <a:solidFill>
                  <a:schemeClr val="bg1"/>
                </a:solidFill>
              </a:rPr>
              <a:t>Challenges solved</a:t>
            </a:r>
            <a:endParaRPr lang="en-US" sz="3000" dirty="0"/>
          </a:p>
        </p:txBody>
      </p:sp>
      <p:sp>
        <p:nvSpPr>
          <p:cNvPr id="3" name="ch-card-0"/>
          <p:cNvSpPr/>
          <p:nvPr/>
        </p:nvSpPr>
        <p:spPr>
          <a:xfrm>
            <a:off x="457200" y="1051560"/>
            <a:ext cx="4023360" cy="1005840"/>
          </a:xfrm>
          <a:prstGeom prst="roundRect">
            <a:avLst>
              <a:gd name="adj" fmla="val 7273"/>
            </a:avLst>
          </a:prstGeom>
          <a:solidFill>
            <a:schemeClr val="tx1"/>
          </a:solidFill>
          <a:ln w="12700">
            <a:solidFill>
              <a:schemeClr val="tx1"/>
            </a:solidFill>
            <a:prstDash val="solid"/>
          </a:ln>
        </p:spPr>
      </p:sp>
      <p:sp>
        <p:nvSpPr>
          <p:cNvPr id="4" name="ch-num-0"/>
          <p:cNvSpPr txBox="1"/>
          <p:nvPr/>
        </p:nvSpPr>
        <p:spPr>
          <a:xfrm>
            <a:off x="640080" y="123444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ch-text-0"/>
          <p:cNvSpPr txBox="1"/>
          <p:nvPr/>
        </p:nvSpPr>
        <p:spPr>
          <a:xfrm>
            <a:off x="1188720" y="1188720"/>
            <a:ext cx="3154680" cy="91440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Trivy failed the backend image</a:t>
            </a:r>
            <a:endParaRPr lang="en-US" sz="1400" dirty="0"/>
          </a:p>
          <a:p>
            <a:pPr indent="0" marL="0">
              <a:spcAft>
                <a:spcPts val="300"/>
              </a:spcAft>
              <a:buNone/>
            </a:pPr>
            <a:r>
              <a:rPr lang="en-US" sz="1100" dirty="0">
                <a:solidFill>
                  <a:schemeClr val="accent5"/>
                </a:solidFill>
              </a:rPr>
              <a:t>HIGH CVEs sat inside pip itself. Removed pip from the runtime image and moved to Alpine: 0 HIGH/CRITICAL.</a:t>
            </a:r>
            <a:endParaRPr lang="en-US" sz="1400" dirty="0"/>
          </a:p>
        </p:txBody>
      </p:sp>
      <p:sp>
        <p:nvSpPr>
          <p:cNvPr id="6" name="ch-card-1"/>
          <p:cNvSpPr/>
          <p:nvPr/>
        </p:nvSpPr>
        <p:spPr>
          <a:xfrm>
            <a:off x="4663440" y="1051560"/>
            <a:ext cx="4023360" cy="1005840"/>
          </a:xfrm>
          <a:prstGeom prst="roundRect">
            <a:avLst>
              <a:gd name="adj" fmla="val 7273"/>
            </a:avLst>
          </a:prstGeom>
          <a:solidFill>
            <a:schemeClr val="tx1"/>
          </a:solidFill>
          <a:ln w="12700">
            <a:solidFill>
              <a:schemeClr val="tx1"/>
            </a:solidFill>
            <a:prstDash val="solid"/>
          </a:ln>
        </p:spPr>
      </p:sp>
      <p:sp>
        <p:nvSpPr>
          <p:cNvPr id="7" name="ch-num-1"/>
          <p:cNvSpPr txBox="1"/>
          <p:nvPr/>
        </p:nvSpPr>
        <p:spPr>
          <a:xfrm>
            <a:off x="4846320" y="123444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ch-text-1"/>
          <p:cNvSpPr txBox="1"/>
          <p:nvPr/>
        </p:nvSpPr>
        <p:spPr>
          <a:xfrm>
            <a:off x="5394960" y="1188720"/>
            <a:ext cx="3154680" cy="91440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AWS Free plan blocked t3.medium</a:t>
            </a:r>
            <a:endParaRPr lang="en-US" sz="1400" dirty="0"/>
          </a:p>
          <a:p>
            <a:pPr indent="0" marL="0">
              <a:spcAft>
                <a:spcPts val="300"/>
              </a:spcAft>
              <a:buNone/>
            </a:pPr>
            <a:r>
              <a:rPr lang="en-US" sz="1100" dirty="0">
                <a:solidFill>
                  <a:schemeClr val="accent5"/>
                </a:solidFill>
              </a:rPr>
              <a:t>Nodes never launched. Switched to Free-Tier-eligible m7i-flex.large (8 GiB, 2 nodes).</a:t>
            </a:r>
            <a:endParaRPr lang="en-US" sz="1400" dirty="0"/>
          </a:p>
        </p:txBody>
      </p:sp>
      <p:sp>
        <p:nvSpPr>
          <p:cNvPr id="9" name="ch-card-2"/>
          <p:cNvSpPr/>
          <p:nvPr/>
        </p:nvSpPr>
        <p:spPr>
          <a:xfrm>
            <a:off x="457200" y="2240280"/>
            <a:ext cx="4023360" cy="1005840"/>
          </a:xfrm>
          <a:prstGeom prst="roundRect">
            <a:avLst>
              <a:gd name="adj" fmla="val 7273"/>
            </a:avLst>
          </a:prstGeom>
          <a:solidFill>
            <a:schemeClr val="tx1"/>
          </a:solidFill>
          <a:ln w="12700">
            <a:solidFill>
              <a:schemeClr val="tx1"/>
            </a:solidFill>
            <a:prstDash val="solid"/>
          </a:ln>
        </p:spPr>
      </p:sp>
      <p:sp>
        <p:nvSpPr>
          <p:cNvPr id="10" name="ch-num-2"/>
          <p:cNvSpPr txBox="1"/>
          <p:nvPr/>
        </p:nvSpPr>
        <p:spPr>
          <a:xfrm>
            <a:off x="640080" y="242316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ch-text-2"/>
          <p:cNvSpPr txBox="1"/>
          <p:nvPr/>
        </p:nvSpPr>
        <p:spPr>
          <a:xfrm>
            <a:off x="1188720" y="2377440"/>
            <a:ext cx="3154680" cy="91440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Org policy blocked OIDC</a:t>
            </a:r>
            <a:endParaRPr lang="en-US" sz="1400" dirty="0"/>
          </a:p>
          <a:p>
            <a:pPr indent="0" marL="0">
              <a:spcAft>
                <a:spcPts val="300"/>
              </a:spcAft>
              <a:buNone/>
            </a:pPr>
            <a:r>
              <a:rPr lang="en-US" sz="1100" dirty="0">
                <a:solidFill>
                  <a:schemeClr val="accent5"/>
                </a:solidFill>
              </a:rPr>
              <a:t>No keyless deploy role allowed, so CI deploys with GitHub secrets and IRSA is off.</a:t>
            </a:r>
            <a:endParaRPr lang="en-US" sz="1400" dirty="0"/>
          </a:p>
        </p:txBody>
      </p:sp>
      <p:sp>
        <p:nvSpPr>
          <p:cNvPr id="12" name="ch-card-3"/>
          <p:cNvSpPr/>
          <p:nvPr/>
        </p:nvSpPr>
        <p:spPr>
          <a:xfrm>
            <a:off x="4663440" y="2240280"/>
            <a:ext cx="4023360" cy="1005840"/>
          </a:xfrm>
          <a:prstGeom prst="roundRect">
            <a:avLst>
              <a:gd name="adj" fmla="val 7273"/>
            </a:avLst>
          </a:prstGeom>
          <a:solidFill>
            <a:schemeClr val="tx1"/>
          </a:solidFill>
          <a:ln w="12700">
            <a:solidFill>
              <a:schemeClr val="tx1"/>
            </a:solidFill>
            <a:prstDash val="solid"/>
          </a:ln>
        </p:spPr>
      </p:sp>
      <p:sp>
        <p:nvSpPr>
          <p:cNvPr id="13" name="ch-num-3"/>
          <p:cNvSpPr txBox="1"/>
          <p:nvPr/>
        </p:nvSpPr>
        <p:spPr>
          <a:xfrm>
            <a:off x="4846320" y="2423160"/>
            <a:ext cx="384048" cy="38404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ch-text-3"/>
          <p:cNvSpPr txBox="1"/>
          <p:nvPr/>
        </p:nvSpPr>
        <p:spPr>
          <a:xfrm>
            <a:off x="5394960" y="2377440"/>
            <a:ext cx="3154680" cy="91440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No runaway AWS bill</a:t>
            </a:r>
            <a:endParaRPr lang="en-US" sz="1400" dirty="0"/>
          </a:p>
          <a:p>
            <a:pPr indent="0" marL="0">
              <a:spcAft>
                <a:spcPts val="300"/>
              </a:spcAft>
              <a:buNone/>
            </a:pPr>
            <a:r>
              <a:rPr lang="en-US" sz="1100" dirty="0">
                <a:solidFill>
                  <a:schemeClr val="accent5"/>
                </a:solidFill>
              </a:rPr>
              <a:t>Teardown script removes the load balancer and volumes first; terraform destroy leaves 0 resources.</a:t>
            </a:r>
            <a:endParaRPr lang="en-US" sz="1400" dirty="0"/>
          </a:p>
        </p:txBody>
      </p:sp>
      <p:sp>
        <p:nvSpPr>
          <p:cNvPr id="15" name="takeaway"/>
          <p:cNvSpPr txBox="1"/>
          <p:nvPr/>
        </p:nvSpPr>
        <p:spPr>
          <a:xfrm>
            <a:off x="457200" y="3566160"/>
            <a:ext cx="8229600" cy="731520"/>
          </a:xfrm>
          <a:prstGeom prst="rect">
            <a:avLst/>
          </a:prstGeom>
          <a:noFill/>
          <a:ln/>
        </p:spPr>
        <p:txBody>
          <a:bodyPr wrap="square" lIns="0" tIns="0" rIns="0" bIns="0" rtlCol="0" anchor="ctr"/>
          <a:lstStyle/>
          <a:p>
            <a:pPr indent="0" marL="0">
              <a:buNone/>
            </a:pPr>
            <a:r>
              <a:rPr lang="en-US" sz="1400" i="1" dirty="0">
                <a:solidFill>
                  <a:schemeClr val="bg1"/>
                </a:solidFill>
              </a:rPr>
              <a:t>Takeaway: every change goes through tests and a security gate, becomes an immutable SHA-tagged image, is deployed declaratively onto infrastructure defined in code, and can be checked through metrics.</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DeskFlow">
  <a:themeElements>
    <a:clrScheme name="DeskFlow">
      <a:dk1>
        <a:srgbClr val="171A2B"/>
      </a:dk1>
      <a:lt1>
        <a:srgbClr val="FFFFFF"/>
      </a:lt1>
      <a:dk2>
        <a:srgbClr val="0F1222"/>
      </a:dk2>
      <a:lt2>
        <a:srgbClr val="F4F5FA"/>
      </a:lt2>
      <a:accent1>
        <a:srgbClr val="6366F1"/>
      </a:accent1>
      <a:accent2>
        <a:srgbClr val="16A34A"/>
      </a:accent2>
      <a:accent3>
        <a:srgbClr val="D97706"/>
      </a:accent3>
      <a:accent4>
        <a:srgbClr val="2563EB"/>
      </a:accent4>
      <a:accent5>
        <a:srgbClr val="A9AECB"/>
      </a:accent5>
      <a:accent6>
        <a:srgbClr val="DC2626"/>
      </a:accent6>
      <a:hlink>
        <a:srgbClr val="4F46E5"/>
      </a:hlink>
      <a:folHlink>
        <a:srgbClr val="7C3AED"/>
      </a:folHlink>
    </a:clrScheme>
    <a:fontScheme name="DeskFlo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DeskFlow: DevOps Capstone</dc:title>
  <dc:subject>PptxGenJS Presentation</dc:subject>
  <dc:creator>Aadit Dhariwal</dc:creator>
  <cp:lastModifiedBy>Aadit Dhariwal</cp:lastModifiedBy>
  <cp:revision>1</cp:revision>
  <dcterms:created xsi:type="dcterms:W3CDTF">2026-10-16T17:12:00Z</dcterms:created>
  <dcterms:modified xsi:type="dcterms:W3CDTF">2026-10-16T17:12:00Z</dcterms:modified>
</cp:coreProperties>
</file>